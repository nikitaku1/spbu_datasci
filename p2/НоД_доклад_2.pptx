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0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278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2B2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>
      <p:cViewPr varScale="1">
        <p:scale>
          <a:sx n="83" d="100"/>
          <a:sy n="83" d="100"/>
        </p:scale>
        <p:origin x="-1459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FABA-D603-46B8-94C7-F73A40963B6B}" type="datetimeFigureOut">
              <a:rPr lang="ru-RU" smtClean="0"/>
              <a:pPr/>
              <a:t>13.12.2025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2C539-D2AA-42BB-9DB2-01C91D0B00A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69201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990656" cy="1470025"/>
          </a:xfrm>
        </p:spPr>
        <p:txBody>
          <a:bodyPr>
            <a:normAutofit/>
          </a:bodyPr>
          <a:lstStyle>
            <a:lvl1pPr algn="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84988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Колонтитул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06422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Колонтитул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5703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ая страница СЕРЫЙ ФО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Заголовок 1"/>
          <p:cNvSpPr txBox="1">
            <a:spLocks/>
          </p:cNvSpPr>
          <p:nvPr userDrawn="1"/>
        </p:nvSpPr>
        <p:spPr>
          <a:xfrm>
            <a:off x="2339752" y="274638"/>
            <a:ext cx="6624736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Колонтитул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69357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следний кадр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5436033" y="5373216"/>
            <a:ext cx="314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 smtClean="0">
                <a:solidFill>
                  <a:schemeClr val="bg1"/>
                </a:solidFill>
              </a:rPr>
              <a:t>Санкт-Петербургский</a:t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>государственный</a:t>
            </a:r>
            <a:r>
              <a:rPr lang="ru-RU" baseline="0" dirty="0" smtClean="0">
                <a:solidFill>
                  <a:schemeClr val="bg1"/>
                </a:solidFill>
              </a:rPr>
              <a:t> университет</a:t>
            </a:r>
            <a:br>
              <a:rPr lang="ru-RU" baseline="0" dirty="0" smtClean="0">
                <a:solidFill>
                  <a:schemeClr val="bg1"/>
                </a:solidFill>
              </a:rPr>
            </a:br>
            <a:r>
              <a:rPr lang="en-US" b="1" baseline="0" dirty="0" smtClean="0">
                <a:solidFill>
                  <a:schemeClr val="bg1"/>
                </a:solidFill>
              </a:rPr>
              <a:t>spbu.ru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9774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EAB62-4EEE-43F2-A223-FD26436F8458}" type="datetime1">
              <a:rPr lang="ru-RU" smtClean="0"/>
              <a:pPr/>
              <a:t>13.12.2025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3867-4E32-4E2D-8739-58246E7E28D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74403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5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505.24837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2348880"/>
            <a:ext cx="8136904" cy="161404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Иерархическое многоуровневое распознавание китайских иероглифов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635896" y="6021288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solidFill>
                  <a:schemeClr val="bg1"/>
                </a:solidFill>
              </a:rPr>
              <a:t>Подготовил: </a:t>
            </a:r>
            <a:r>
              <a:rPr lang="ru-RU" dirty="0" err="1" smtClean="0">
                <a:solidFill>
                  <a:schemeClr val="bg1"/>
                </a:solidFill>
              </a:rPr>
              <a:t>Кубякин</a:t>
            </a:r>
            <a:r>
              <a:rPr lang="ru-RU" dirty="0" smtClean="0">
                <a:solidFill>
                  <a:schemeClr val="bg1"/>
                </a:solidFill>
              </a:rPr>
              <a:t> Никита</a:t>
            </a:r>
          </a:p>
          <a:p>
            <a:pPr algn="r"/>
            <a:r>
              <a:rPr lang="ru-RU" dirty="0" smtClean="0">
                <a:solidFill>
                  <a:schemeClr val="bg1"/>
                </a:solidFill>
              </a:rPr>
              <a:t>Группа: 23.Б15-пу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7664" y="393305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solidFill>
                  <a:schemeClr val="bg1"/>
                </a:solidFill>
              </a:rPr>
              <a:t>Статья: </a:t>
            </a:r>
            <a:r>
              <a:rPr lang="en-US" dirty="0" smtClean="0">
                <a:solidFill>
                  <a:schemeClr val="bg1"/>
                </a:solidFill>
              </a:rPr>
              <a:t>“Zero-Shot Chinese Character Recognition with Hierarchical</a:t>
            </a:r>
            <a:endParaRPr lang="ru-RU" dirty="0" smtClean="0">
              <a:solidFill>
                <a:schemeClr val="bg1"/>
              </a:solidFill>
            </a:endParaRP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 Multi-Granularity Image-Text Aligning”</a:t>
            </a:r>
            <a:endParaRPr lang="ru-RU" dirty="0" smtClean="0">
              <a:solidFill>
                <a:schemeClr val="bg1"/>
              </a:solidFill>
            </a:endParaRPr>
          </a:p>
          <a:p>
            <a:pPr algn="r"/>
            <a:r>
              <a:rPr lang="ru-RU" dirty="0" smtClean="0">
                <a:solidFill>
                  <a:schemeClr val="bg1"/>
                </a:solidFill>
              </a:rPr>
              <a:t>Автор: </a:t>
            </a:r>
            <a:r>
              <a:rPr lang="en-US" dirty="0" err="1" smtClean="0">
                <a:solidFill>
                  <a:schemeClr val="bg1"/>
                </a:solidFill>
              </a:rPr>
              <a:t>Yinglian</a:t>
            </a:r>
            <a:r>
              <a:rPr lang="en-US" dirty="0" smtClean="0">
                <a:solidFill>
                  <a:schemeClr val="bg1"/>
                </a:solidFill>
              </a:rPr>
              <a:t> Zhu, et al.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6309320"/>
            <a:ext cx="1576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Дата: 13.12.25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0176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 и мотивация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 smtClean="0"/>
              <a:t>В то время как в латинице и кириллице количество букв не очень высокое, и соответственно задача распознавания текста сравнительно проста, в китайском, и похожих на него языках, количество символов – несколько десятков тысяч, а так же множество стилей </a:t>
            </a:r>
            <a:r>
              <a:rPr lang="ru-RU" sz="2400" dirty="0" err="1" smtClean="0"/>
              <a:t>рукописности</a:t>
            </a:r>
            <a:r>
              <a:rPr lang="ru-RU" sz="2400" dirty="0" smtClean="0"/>
              <a:t>. Так же существуют редкие и устаревшие символы.</a:t>
            </a:r>
          </a:p>
          <a:p>
            <a:r>
              <a:rPr lang="ru-RU" sz="2400" dirty="0" smtClean="0"/>
              <a:t>Для китайского существуют </a:t>
            </a:r>
            <a:r>
              <a:rPr lang="en-US" sz="2400" dirty="0" smtClean="0"/>
              <a:t>OCR-</a:t>
            </a:r>
            <a:r>
              <a:rPr lang="ru-RU" sz="2400" dirty="0" smtClean="0"/>
              <a:t>модели, однако они зачастую требуют примера каждого распознаваемого символа.</a:t>
            </a:r>
          </a:p>
          <a:p>
            <a:r>
              <a:rPr lang="en-US" sz="2400" dirty="0" smtClean="0"/>
              <a:t>Zero-shot </a:t>
            </a:r>
            <a:r>
              <a:rPr lang="ru-RU" sz="2400" dirty="0" smtClean="0"/>
              <a:t>модели позволяют использовать особенности китайской системы письма для определения </a:t>
            </a:r>
            <a:r>
              <a:rPr lang="en-US" sz="2400" dirty="0" smtClean="0"/>
              <a:t>“</a:t>
            </a:r>
            <a:r>
              <a:rPr lang="ru-RU" sz="2400" dirty="0" smtClean="0"/>
              <a:t>неизвестных</a:t>
            </a:r>
            <a:r>
              <a:rPr lang="en-US" sz="2400" dirty="0" smtClean="0"/>
              <a:t>”</a:t>
            </a:r>
            <a:r>
              <a:rPr lang="ru-RU" sz="2400" dirty="0" smtClean="0"/>
              <a:t> символов</a:t>
            </a:r>
            <a:r>
              <a:rPr lang="en-US" sz="2400" dirty="0" smtClean="0"/>
              <a:t>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Ограничения существующих решений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Символы в китайском языке делятся на составные части (радикалы) и отдельные черты. </a:t>
            </a:r>
          </a:p>
          <a:p>
            <a:endParaRPr lang="ru-RU" sz="2400" dirty="0" smtClean="0"/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852936"/>
            <a:ext cx="4150073" cy="2732346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860033" y="2276872"/>
            <a:ext cx="410445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000" dirty="0" smtClean="0"/>
              <a:t> Радикальные подходы учитывают структуру, но пропускают визуальные особенности.</a:t>
            </a:r>
          </a:p>
          <a:p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 </a:t>
            </a:r>
            <a:r>
              <a:rPr lang="ru-RU" sz="2000" dirty="0" err="1" smtClean="0"/>
              <a:t>Stroke-based</a:t>
            </a:r>
            <a:r>
              <a:rPr lang="ru-RU" sz="2000" dirty="0" smtClean="0"/>
              <a:t> модели часто теряют глобальную форму.</a:t>
            </a:r>
          </a:p>
          <a:p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 </a:t>
            </a:r>
            <a:r>
              <a:rPr lang="ru-RU" sz="2000" dirty="0" err="1" smtClean="0"/>
              <a:t>Авто-регрессионные</a:t>
            </a:r>
            <a:r>
              <a:rPr lang="ru-RU" sz="2000" dirty="0" smtClean="0"/>
              <a:t> методы накапливают ошибки.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r>
              <a:rPr lang="ru-RU" sz="2000" dirty="0" smtClean="0"/>
              <a:t>Нет моделей, объединяющих все уровни структуры.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Фреймворк </a:t>
            </a:r>
            <a:r>
              <a:rPr lang="en-US" dirty="0" smtClean="0"/>
              <a:t>HI-GITA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600" dirty="0" smtClean="0"/>
              <a:t>Авторами представлена идея для </a:t>
            </a:r>
            <a:r>
              <a:rPr lang="ru-RU" sz="2600" dirty="0" err="1" smtClean="0"/>
              <a:t>фреймворка</a:t>
            </a:r>
            <a:r>
              <a:rPr lang="ru-RU" sz="2600" dirty="0" smtClean="0"/>
              <a:t>:</a:t>
            </a:r>
          </a:p>
          <a:p>
            <a:r>
              <a:rPr lang="ru-RU" sz="2600" dirty="0" smtClean="0"/>
              <a:t>Представить символ на трёх уровнях:</a:t>
            </a:r>
          </a:p>
          <a:p>
            <a:pPr lvl="1"/>
            <a:r>
              <a:rPr lang="ru-RU" sz="2600" dirty="0" smtClean="0"/>
              <a:t>Уровень штрихов (</a:t>
            </a:r>
            <a:r>
              <a:rPr lang="ru-RU" sz="2600" dirty="0" err="1" smtClean="0"/>
              <a:t>strokes</a:t>
            </a:r>
            <a:r>
              <a:rPr lang="ru-RU" sz="2600" dirty="0" smtClean="0"/>
              <a:t>)</a:t>
            </a:r>
          </a:p>
          <a:p>
            <a:pPr lvl="1"/>
            <a:r>
              <a:rPr lang="ru-RU" sz="2600" dirty="0" smtClean="0"/>
              <a:t>Уровень радикалов (</a:t>
            </a:r>
            <a:r>
              <a:rPr lang="ru-RU" sz="2600" dirty="0" err="1" smtClean="0"/>
              <a:t>components</a:t>
            </a:r>
            <a:r>
              <a:rPr lang="ru-RU" sz="2600" dirty="0" smtClean="0"/>
              <a:t>)</a:t>
            </a:r>
          </a:p>
          <a:p>
            <a:pPr lvl="1"/>
            <a:r>
              <a:rPr lang="ru-RU" sz="2600" dirty="0" smtClean="0"/>
              <a:t>Глобальный уровень символа (</a:t>
            </a:r>
            <a:r>
              <a:rPr lang="ru-RU" sz="2600" dirty="0" err="1" smtClean="0"/>
              <a:t>character</a:t>
            </a:r>
            <a:r>
              <a:rPr lang="ru-RU" sz="2600" dirty="0" smtClean="0"/>
              <a:t>)</a:t>
            </a:r>
          </a:p>
          <a:p>
            <a:r>
              <a:rPr lang="ru-RU" sz="2600" dirty="0" smtClean="0"/>
              <a:t>Разработать два многоуровневых </a:t>
            </a:r>
            <a:r>
              <a:rPr lang="ru-RU" sz="2600" dirty="0" err="1" smtClean="0"/>
              <a:t>энкодера</a:t>
            </a:r>
            <a:r>
              <a:rPr lang="ru-RU" sz="2600" dirty="0" smtClean="0"/>
              <a:t> (изображение + текст)</a:t>
            </a:r>
          </a:p>
          <a:p>
            <a:r>
              <a:rPr lang="ru-RU" sz="2600" dirty="0" smtClean="0"/>
              <a:t>Ввести механизмы многоуровневого слияния и </a:t>
            </a:r>
            <a:r>
              <a:rPr lang="ru-RU" sz="2600" dirty="0" err="1" smtClean="0"/>
              <a:t>контрастивного</a:t>
            </a:r>
            <a:r>
              <a:rPr lang="ru-RU" sz="2600" dirty="0" smtClean="0"/>
              <a:t> выравнивания</a:t>
            </a:r>
          </a:p>
          <a:p>
            <a:endParaRPr lang="ru-RU" sz="2600" dirty="0" smtClean="0"/>
          </a:p>
          <a:p>
            <a:r>
              <a:rPr lang="ru-RU" sz="2600" dirty="0" smtClean="0"/>
              <a:t>Это позволит добиться устойчивого распознавания. </a:t>
            </a:r>
          </a:p>
          <a:p>
            <a:pPr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Общая архитектура </a:t>
            </a:r>
            <a:r>
              <a:rPr lang="en-US" dirty="0" smtClean="0"/>
              <a:t>Hi-GITA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ru-RU" sz="2600" dirty="0" smtClean="0"/>
              <a:t>Два параллельных пути:</a:t>
            </a:r>
          </a:p>
          <a:p>
            <a:r>
              <a:rPr lang="en-US" sz="2600" dirty="0" smtClean="0"/>
              <a:t>Image Multi-Granularity Encoder (IME)</a:t>
            </a:r>
          </a:p>
          <a:p>
            <a:r>
              <a:rPr lang="en-US" sz="2600" dirty="0" smtClean="0"/>
              <a:t>Text Multi-Granularity Encoder (TME)</a:t>
            </a:r>
          </a:p>
          <a:p>
            <a:pPr>
              <a:buNone/>
            </a:pPr>
            <a:r>
              <a:rPr lang="ru-RU" sz="2600" dirty="0" smtClean="0"/>
              <a:t>Два </a:t>
            </a:r>
            <a:r>
              <a:rPr lang="en-US" sz="2600" dirty="0" smtClean="0"/>
              <a:t>Fusion-</a:t>
            </a:r>
            <a:r>
              <a:rPr lang="ru-RU" sz="2600" dirty="0" smtClean="0"/>
              <a:t>модуля:</a:t>
            </a:r>
          </a:p>
          <a:p>
            <a:r>
              <a:rPr lang="en-US" sz="2600" dirty="0" smtClean="0"/>
              <a:t>MGFM-I — </a:t>
            </a:r>
            <a:r>
              <a:rPr lang="ru-RU" sz="2600" dirty="0" smtClean="0"/>
              <a:t>для изображения</a:t>
            </a:r>
          </a:p>
          <a:p>
            <a:r>
              <a:rPr lang="en-US" sz="2600" dirty="0" smtClean="0"/>
              <a:t>MGFM-T — </a:t>
            </a:r>
            <a:r>
              <a:rPr lang="ru-RU" sz="2600" dirty="0" smtClean="0"/>
              <a:t>для текста</a:t>
            </a:r>
          </a:p>
          <a:p>
            <a:pPr>
              <a:buNone/>
            </a:pPr>
            <a:r>
              <a:rPr lang="en-US" sz="2600" dirty="0" smtClean="0"/>
              <a:t>FDC-Loss — </a:t>
            </a:r>
            <a:r>
              <a:rPr lang="ru-RU" sz="2600" dirty="0" smtClean="0"/>
              <a:t>многоуровневое противопоставление для </a:t>
            </a:r>
          </a:p>
          <a:p>
            <a:pPr>
              <a:buNone/>
            </a:pPr>
            <a:r>
              <a:rPr lang="ru-RU" sz="2600" dirty="0" smtClean="0"/>
              <a:t>выравнивания уровней</a:t>
            </a:r>
          </a:p>
          <a:p>
            <a:pPr>
              <a:buNone/>
            </a:pPr>
            <a:endParaRPr lang="ru-RU" sz="2600" dirty="0" smtClean="0"/>
          </a:p>
          <a:p>
            <a:pPr>
              <a:buNone/>
            </a:pPr>
            <a:r>
              <a:rPr lang="ru-RU" sz="2600" dirty="0" smtClean="0"/>
              <a:t>Итог: 6 видов </a:t>
            </a:r>
            <a:r>
              <a:rPr lang="ru-RU" sz="2600" dirty="0" err="1" smtClean="0"/>
              <a:t>эмбеддингов</a:t>
            </a:r>
            <a:r>
              <a:rPr lang="ru-RU" sz="2600" dirty="0" smtClean="0"/>
              <a:t> (</a:t>
            </a:r>
            <a:r>
              <a:rPr lang="en-US" sz="2600" dirty="0" smtClean="0"/>
              <a:t>stroke/radical/char </a:t>
            </a:r>
            <a:r>
              <a:rPr lang="ru-RU" sz="2600" dirty="0" smtClean="0"/>
              <a:t>* </a:t>
            </a:r>
            <a:r>
              <a:rPr lang="en-US" sz="2600" dirty="0" smtClean="0"/>
              <a:t>image/text)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IME: </a:t>
            </a:r>
            <a:r>
              <a:rPr lang="ru-RU" dirty="0" smtClean="0"/>
              <a:t>СТРУКТУРА ПРИЗНАКОВ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762872" cy="4525963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Изображение разбивается на </a:t>
            </a:r>
            <a:r>
              <a:rPr lang="ru-RU" sz="2400" dirty="0" err="1" smtClean="0"/>
              <a:t>патчи</a:t>
            </a:r>
            <a:endParaRPr lang="ru-RU" sz="2400" dirty="0" smtClean="0"/>
          </a:p>
          <a:p>
            <a:r>
              <a:rPr lang="ru-RU" sz="2400" dirty="0" smtClean="0"/>
              <a:t>Порождаются 3 уровня признаков:</a:t>
            </a:r>
          </a:p>
          <a:p>
            <a:pPr lvl="1"/>
            <a:r>
              <a:rPr lang="en-US" sz="2400" dirty="0" smtClean="0"/>
              <a:t>Stroke-level: </a:t>
            </a:r>
            <a:r>
              <a:rPr lang="ru-RU" sz="2400" dirty="0" smtClean="0"/>
              <a:t>локальные штриховые фрагменты</a:t>
            </a:r>
          </a:p>
          <a:p>
            <a:pPr lvl="1"/>
            <a:r>
              <a:rPr lang="en-US" sz="2400" dirty="0" smtClean="0"/>
              <a:t>Radical-level: </a:t>
            </a:r>
            <a:r>
              <a:rPr lang="ru-RU" sz="2400" dirty="0" smtClean="0"/>
              <a:t>комбинации штрихов, поверх </a:t>
            </a:r>
            <a:r>
              <a:rPr lang="ru-RU" sz="2400" dirty="0" err="1" smtClean="0"/>
              <a:t>патчей</a:t>
            </a:r>
            <a:endParaRPr lang="ru-RU" sz="2400" dirty="0" smtClean="0"/>
          </a:p>
          <a:p>
            <a:pPr lvl="1"/>
            <a:r>
              <a:rPr lang="en-US" sz="2400" dirty="0" smtClean="0"/>
              <a:t>Character-level: </a:t>
            </a:r>
            <a:r>
              <a:rPr lang="ru-RU" sz="2400" dirty="0" smtClean="0"/>
              <a:t>глобальный </a:t>
            </a:r>
            <a:r>
              <a:rPr lang="ru-RU" sz="2400" dirty="0" err="1" smtClean="0"/>
              <a:t>токен</a:t>
            </a:r>
            <a:endParaRPr lang="ru-RU" sz="2400" dirty="0" smtClean="0"/>
          </a:p>
          <a:p>
            <a:r>
              <a:rPr lang="ru-RU" sz="2400" dirty="0" smtClean="0"/>
              <a:t>Далее уровни связываются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1268760"/>
            <a:ext cx="3851920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Ime</a:t>
            </a:r>
            <a:r>
              <a:rPr lang="en-US" dirty="0" smtClean="0"/>
              <a:t>: </a:t>
            </a:r>
            <a:r>
              <a:rPr lang="ru-RU" dirty="0" smtClean="0"/>
              <a:t>ключевые особенности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/>
          <a:lstStyle/>
          <a:p>
            <a:r>
              <a:rPr lang="ru-RU" sz="2400" dirty="0" smtClean="0"/>
              <a:t>Визуальные признаки “распаковываются” по структуре символа</a:t>
            </a:r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r>
              <a:rPr lang="ru-RU" sz="2400" dirty="0" smtClean="0"/>
              <a:t>Иерархия помогает:</a:t>
            </a:r>
          </a:p>
          <a:p>
            <a:r>
              <a:rPr lang="ru-RU" sz="2400" dirty="0" smtClean="0"/>
              <a:t>различать похожие символы</a:t>
            </a:r>
          </a:p>
          <a:p>
            <a:r>
              <a:rPr lang="ru-RU" sz="2400" dirty="0" smtClean="0"/>
              <a:t>понимать вложенность радикалов</a:t>
            </a:r>
          </a:p>
          <a:p>
            <a:r>
              <a:rPr lang="ru-RU" sz="2400" dirty="0" smtClean="0"/>
              <a:t>учитывать глобальный контекст</a:t>
            </a:r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r>
              <a:rPr lang="ru-RU" sz="2400" dirty="0" smtClean="0"/>
              <a:t>Появляется устойчивость к искажениям и </a:t>
            </a:r>
            <a:r>
              <a:rPr lang="ru-RU" sz="2400" dirty="0" err="1" smtClean="0"/>
              <a:t>рукописности</a:t>
            </a:r>
            <a:r>
              <a:rPr lang="ru-RU" sz="2400" dirty="0" smtClean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TME: </a:t>
            </a:r>
            <a:r>
              <a:rPr lang="ru-RU" dirty="0" smtClean="0"/>
              <a:t>Текстовые представления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83488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/>
              <a:t>Источники описания символа:</a:t>
            </a:r>
          </a:p>
          <a:p>
            <a:r>
              <a:rPr lang="ru-RU" sz="2400" dirty="0" smtClean="0"/>
              <a:t>Каноническая </a:t>
            </a:r>
            <a:r>
              <a:rPr lang="en-US" sz="2400" b="1" dirty="0" smtClean="0"/>
              <a:t>stroke sequence</a:t>
            </a:r>
            <a:endParaRPr lang="en-US" sz="2400" dirty="0" smtClean="0"/>
          </a:p>
          <a:p>
            <a:r>
              <a:rPr lang="ru-RU" sz="2400" dirty="0" smtClean="0"/>
              <a:t>Структурные </a:t>
            </a:r>
            <a:r>
              <a:rPr lang="en-US" sz="2400" b="1" dirty="0" smtClean="0"/>
              <a:t>radical annotations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Stroke-sequence: </a:t>
            </a:r>
            <a:r>
              <a:rPr lang="ru-RU" sz="2400" dirty="0" smtClean="0"/>
              <a:t>низкоуровневая форма</a:t>
            </a:r>
          </a:p>
          <a:p>
            <a:pPr>
              <a:buNone/>
            </a:pPr>
            <a:r>
              <a:rPr lang="en-US" sz="2400" dirty="0" smtClean="0"/>
              <a:t>Radical-sequence: </a:t>
            </a:r>
            <a:r>
              <a:rPr lang="ru-RU" sz="2400" dirty="0" smtClean="0"/>
              <a:t>семантика и композиция</a:t>
            </a:r>
          </a:p>
          <a:p>
            <a:pPr>
              <a:buNone/>
            </a:pPr>
            <a:r>
              <a:rPr lang="ru-RU" sz="2400" dirty="0" smtClean="0"/>
              <a:t>Создаются текстовые </a:t>
            </a:r>
          </a:p>
          <a:p>
            <a:pPr>
              <a:buNone/>
            </a:pPr>
            <a:r>
              <a:rPr lang="ru-RU" sz="2400" dirty="0" err="1" smtClean="0"/>
              <a:t>эмбеддинги</a:t>
            </a:r>
            <a:r>
              <a:rPr lang="ru-RU" sz="2400" dirty="0" smtClean="0"/>
              <a:t> для каждого </a:t>
            </a:r>
          </a:p>
          <a:p>
            <a:pPr>
              <a:buNone/>
            </a:pPr>
            <a:r>
              <a:rPr lang="ru-RU" sz="2400" dirty="0" smtClean="0"/>
              <a:t>уровня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1412776"/>
            <a:ext cx="30003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TME: </a:t>
            </a:r>
            <a:r>
              <a:rPr lang="ru-RU" dirty="0" smtClean="0"/>
              <a:t>АРХИТЕКТУРА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 smtClean="0"/>
              <a:t>Два отдельных </a:t>
            </a:r>
            <a:r>
              <a:rPr lang="ru-RU" sz="2400" dirty="0" err="1" smtClean="0"/>
              <a:t>трансформера</a:t>
            </a:r>
            <a:r>
              <a:rPr lang="ru-RU" sz="2400" dirty="0" smtClean="0"/>
              <a:t>:</a:t>
            </a:r>
          </a:p>
          <a:p>
            <a:pPr lvl="1"/>
            <a:r>
              <a:rPr lang="en-US" sz="2400" dirty="0" smtClean="0"/>
              <a:t>Stroke Transformer</a:t>
            </a:r>
          </a:p>
          <a:p>
            <a:pPr lvl="1"/>
            <a:r>
              <a:rPr lang="en-US" sz="2400" dirty="0" smtClean="0"/>
              <a:t>Radical Transformer</a:t>
            </a:r>
            <a:endParaRPr lang="ru-RU" sz="2400" dirty="0" smtClean="0"/>
          </a:p>
          <a:p>
            <a:pPr lvl="1">
              <a:buNone/>
            </a:pPr>
            <a:endParaRPr lang="en-US" sz="2400" dirty="0" smtClean="0"/>
          </a:p>
          <a:p>
            <a:r>
              <a:rPr lang="en-US" sz="2400" dirty="0" smtClean="0"/>
              <a:t>MGFM-T </a:t>
            </a:r>
            <a:r>
              <a:rPr lang="ru-RU" sz="2400" dirty="0" smtClean="0"/>
              <a:t>обеспечивает </a:t>
            </a:r>
            <a:r>
              <a:rPr lang="ru-RU" sz="2400" dirty="0" err="1" smtClean="0"/>
              <a:t>многогранулярное</a:t>
            </a:r>
            <a:r>
              <a:rPr lang="ru-RU" sz="2400" dirty="0" smtClean="0"/>
              <a:t> обменное обучение</a:t>
            </a:r>
          </a:p>
          <a:p>
            <a:pPr>
              <a:buNone/>
            </a:pPr>
            <a:endParaRPr lang="ru-RU" sz="2400" dirty="0" smtClean="0"/>
          </a:p>
          <a:p>
            <a:r>
              <a:rPr lang="ru-RU" sz="2400" dirty="0" smtClean="0"/>
              <a:t>Итог: 3 уровня текстовых представлений:</a:t>
            </a:r>
          </a:p>
          <a:p>
            <a:pPr lvl="1"/>
            <a:r>
              <a:rPr lang="en-US" sz="2400" dirty="0" smtClean="0"/>
              <a:t>Stroke-T, Radical-T, Global-T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MGFM-I </a:t>
            </a:r>
            <a:r>
              <a:rPr lang="ru-RU" dirty="0" smtClean="0"/>
              <a:t>и </a:t>
            </a:r>
            <a:r>
              <a:rPr lang="en-US" dirty="0" smtClean="0"/>
              <a:t>MGFM-T: </a:t>
            </a:r>
            <a:r>
              <a:rPr lang="ru-RU" dirty="0" smtClean="0"/>
              <a:t>назначение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2600" dirty="0" smtClean="0"/>
              <a:t>Синхронизируют уровни внутри одной модальности</a:t>
            </a:r>
          </a:p>
          <a:p>
            <a:pPr>
              <a:buNone/>
            </a:pPr>
            <a:endParaRPr lang="ru-RU" sz="2600" dirty="0" smtClean="0"/>
          </a:p>
          <a:p>
            <a:pPr>
              <a:buNone/>
            </a:pPr>
            <a:r>
              <a:rPr lang="ru-RU" sz="2600" dirty="0" smtClean="0"/>
              <a:t>Улучшают взаимодействие:</a:t>
            </a:r>
          </a:p>
          <a:p>
            <a:r>
              <a:rPr lang="ru-RU" sz="2600" dirty="0" err="1" smtClean="0"/>
              <a:t>Stroke</a:t>
            </a:r>
            <a:r>
              <a:rPr lang="ru-RU" sz="2600" dirty="0" smtClean="0"/>
              <a:t> ↔ </a:t>
            </a:r>
            <a:r>
              <a:rPr lang="ru-RU" sz="2600" dirty="0" err="1" smtClean="0"/>
              <a:t>Radical</a:t>
            </a:r>
            <a:endParaRPr lang="ru-RU" sz="2600" dirty="0" smtClean="0"/>
          </a:p>
          <a:p>
            <a:r>
              <a:rPr lang="ru-RU" sz="2600" dirty="0" err="1" smtClean="0"/>
              <a:t>Radical</a:t>
            </a:r>
            <a:r>
              <a:rPr lang="ru-RU" sz="2600" dirty="0" smtClean="0"/>
              <a:t> ↔ </a:t>
            </a:r>
            <a:r>
              <a:rPr lang="ru-RU" sz="2600" dirty="0" err="1" smtClean="0"/>
              <a:t>Global</a:t>
            </a:r>
            <a:endParaRPr lang="ru-RU" sz="2600" dirty="0" smtClean="0"/>
          </a:p>
          <a:p>
            <a:pPr>
              <a:buNone/>
            </a:pPr>
            <a:endParaRPr lang="ru-RU" sz="2600" dirty="0" smtClean="0"/>
          </a:p>
          <a:p>
            <a:r>
              <a:rPr lang="ru-RU" sz="2600" dirty="0" smtClean="0"/>
              <a:t>Добавляют механизм перекрёстного уточнения</a:t>
            </a:r>
          </a:p>
          <a:p>
            <a:r>
              <a:rPr lang="ru-RU" sz="2600" dirty="0" smtClean="0"/>
              <a:t>Устраняют информационную разрозненность уровней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MGFM-I: </a:t>
            </a:r>
            <a:r>
              <a:rPr lang="ru-RU" dirty="0" smtClean="0"/>
              <a:t>внутри </a:t>
            </a:r>
            <a:r>
              <a:rPr lang="en-US" dirty="0" smtClean="0"/>
              <a:t>Image Encoder</a:t>
            </a:r>
            <a:r>
              <a:rPr lang="ru-RU" dirty="0" smtClean="0"/>
              <a:t>-А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 smtClean="0"/>
              <a:t>Cross-attention</a:t>
            </a:r>
            <a:r>
              <a:rPr lang="ru-RU" dirty="0" smtClean="0"/>
              <a:t> между </a:t>
            </a:r>
            <a:r>
              <a:rPr lang="ru-RU" dirty="0" err="1" smtClean="0"/>
              <a:t>stroke</a:t>
            </a:r>
            <a:r>
              <a:rPr lang="ru-RU" dirty="0" smtClean="0"/>
              <a:t> и </a:t>
            </a:r>
            <a:r>
              <a:rPr lang="ru-RU" dirty="0" err="1" smtClean="0"/>
              <a:t>radical</a:t>
            </a:r>
            <a:r>
              <a:rPr lang="ru-RU" dirty="0" smtClean="0"/>
              <a:t> признаками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Баланс локальных и глобальных признаков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Усиливает способность различать детали в символах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Поддерживает устойчивость при искажённом почерке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Проблема выравнивания “изображение–текст”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600" dirty="0" smtClean="0"/>
              <a:t>В иероглифах нет точного соответствия между визуальными штрихами и их текстовым описанием.</a:t>
            </a:r>
          </a:p>
          <a:p>
            <a:endParaRPr lang="ru-RU" sz="2600" dirty="0" smtClean="0"/>
          </a:p>
          <a:p>
            <a:r>
              <a:rPr lang="ru-RU" sz="2600" dirty="0" smtClean="0"/>
              <a:t>Радикалы могут сильно менять форму в разных стилях письма.</a:t>
            </a:r>
          </a:p>
          <a:p>
            <a:endParaRPr lang="ru-RU" sz="2600" dirty="0" smtClean="0"/>
          </a:p>
          <a:p>
            <a:r>
              <a:rPr lang="ru-RU" sz="2600" dirty="0" smtClean="0"/>
              <a:t>Глобальные методы (например, CLIP) игнорируют структуру и путают похожие символы.</a:t>
            </a:r>
          </a:p>
          <a:p>
            <a:endParaRPr lang="ru-RU" sz="2600" dirty="0" smtClean="0"/>
          </a:p>
          <a:p>
            <a:r>
              <a:rPr lang="ru-RU" sz="2600" dirty="0" smtClean="0"/>
              <a:t>Требуется многоуровневое сопоставление: штрихи -</a:t>
            </a:r>
            <a:r>
              <a:rPr lang="en-US" sz="2600" dirty="0" smtClean="0"/>
              <a:t>&gt;</a:t>
            </a:r>
            <a:r>
              <a:rPr lang="ru-RU" sz="2600" dirty="0" smtClean="0"/>
              <a:t> радикалы </a:t>
            </a:r>
            <a:r>
              <a:rPr lang="en-US" sz="2600" dirty="0" smtClean="0"/>
              <a:t>-&gt;</a:t>
            </a:r>
            <a:r>
              <a:rPr lang="ru-RU" sz="2600" dirty="0" smtClean="0"/>
              <a:t> символ.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FDC-Loss: </a:t>
            </a:r>
            <a:r>
              <a:rPr lang="ru-RU" dirty="0" smtClean="0"/>
              <a:t>многоуровневый </a:t>
            </a:r>
            <a:r>
              <a:rPr lang="ru-RU" dirty="0" err="1" smtClean="0"/>
              <a:t>контрастивный</a:t>
            </a:r>
            <a:r>
              <a:rPr lang="ru-RU" dirty="0" smtClean="0"/>
              <a:t> подход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85000" lnSpcReduction="20000"/>
          </a:bodyPr>
          <a:lstStyle/>
          <a:p>
            <a:r>
              <a:rPr lang="ru-RU" sz="2600" dirty="0" smtClean="0"/>
              <a:t>Делит обучение на три независимых уровня:</a:t>
            </a:r>
          </a:p>
          <a:p>
            <a:pPr>
              <a:buFont typeface="Courier New" pitchFamily="49" charset="0"/>
              <a:buChar char="o"/>
            </a:pPr>
            <a:r>
              <a:rPr lang="ru-RU" sz="2600" dirty="0" err="1" smtClean="0"/>
              <a:t>Stroke-level</a:t>
            </a:r>
            <a:r>
              <a:rPr lang="ru-RU" sz="2600" dirty="0" smtClean="0"/>
              <a:t> — мелкие детали.</a:t>
            </a:r>
          </a:p>
          <a:p>
            <a:pPr>
              <a:buFont typeface="Courier New" pitchFamily="49" charset="0"/>
              <a:buChar char="o"/>
            </a:pPr>
            <a:r>
              <a:rPr lang="ru-RU" sz="2600" dirty="0" err="1" smtClean="0"/>
              <a:t>Radical-level</a:t>
            </a:r>
            <a:r>
              <a:rPr lang="ru-RU" sz="2600" dirty="0" smtClean="0"/>
              <a:t> — структурные части.</a:t>
            </a:r>
          </a:p>
          <a:p>
            <a:pPr>
              <a:buFont typeface="Courier New" pitchFamily="49" charset="0"/>
              <a:buChar char="o"/>
            </a:pPr>
            <a:r>
              <a:rPr lang="ru-RU" sz="2600" dirty="0" err="1" smtClean="0"/>
              <a:t>Character-level</a:t>
            </a:r>
            <a:r>
              <a:rPr lang="ru-RU" sz="2600" dirty="0" smtClean="0"/>
              <a:t> — общая форма.</a:t>
            </a:r>
          </a:p>
          <a:p>
            <a:r>
              <a:rPr lang="ru-RU" sz="2600" dirty="0" smtClean="0"/>
              <a:t>Каждый уровень получает свой </a:t>
            </a:r>
            <a:r>
              <a:rPr lang="ru-RU" sz="2600" dirty="0" err="1" smtClean="0"/>
              <a:t>контрастивный</a:t>
            </a:r>
            <a:r>
              <a:rPr lang="ru-RU" sz="2600" dirty="0" smtClean="0"/>
              <a:t> </a:t>
            </a:r>
            <a:r>
              <a:rPr lang="ru-RU" sz="2600" dirty="0" err="1" smtClean="0"/>
              <a:t>лосс</a:t>
            </a:r>
            <a:r>
              <a:rPr lang="ru-RU" sz="2600" dirty="0" smtClean="0"/>
              <a:t>.</a:t>
            </a:r>
          </a:p>
          <a:p>
            <a:r>
              <a:rPr lang="ru-RU" sz="2600" dirty="0" smtClean="0"/>
              <a:t>Итоговый сигнал: взвешенная сумма трёх компонент.</a:t>
            </a:r>
          </a:p>
          <a:p>
            <a:r>
              <a:rPr lang="ru-RU" sz="2600" dirty="0" smtClean="0"/>
              <a:t>Уменьшает путаницу между уровнями и повышает точность.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1196752"/>
            <a:ext cx="4248150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Почему </a:t>
            </a:r>
            <a:r>
              <a:rPr lang="en-US" dirty="0" smtClean="0"/>
              <a:t>FDC-Loss </a:t>
            </a:r>
            <a:r>
              <a:rPr lang="ru-RU" dirty="0" smtClean="0"/>
              <a:t>улучшает результаты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sz="2600" dirty="0" smtClean="0"/>
              <a:t>Избегает смешивания локальных и глобальных признаков.</a:t>
            </a:r>
            <a:endParaRPr lang="en-US" sz="2600" dirty="0" smtClean="0"/>
          </a:p>
          <a:p>
            <a:endParaRPr lang="ru-RU" sz="2600" dirty="0" smtClean="0"/>
          </a:p>
          <a:p>
            <a:r>
              <a:rPr lang="ru-RU" sz="2600" dirty="0" smtClean="0"/>
              <a:t>Сильнее различает похожие по форме символы.</a:t>
            </a:r>
            <a:endParaRPr lang="en-US" sz="2600" dirty="0" smtClean="0"/>
          </a:p>
          <a:p>
            <a:endParaRPr lang="ru-RU" sz="2600" dirty="0" smtClean="0"/>
          </a:p>
          <a:p>
            <a:r>
              <a:rPr lang="ru-RU" sz="2600" dirty="0" smtClean="0"/>
              <a:t>Лучше переносит знания в </a:t>
            </a:r>
            <a:r>
              <a:rPr lang="ru-RU" sz="2600" dirty="0" err="1" smtClean="0"/>
              <a:t>zero-shot</a:t>
            </a:r>
            <a:r>
              <a:rPr lang="ru-RU" sz="2600" dirty="0" smtClean="0"/>
              <a:t> условиях.</a:t>
            </a:r>
            <a:endParaRPr lang="en-US" sz="2600" dirty="0" smtClean="0"/>
          </a:p>
          <a:p>
            <a:endParaRPr lang="ru-RU" sz="2600" dirty="0" smtClean="0"/>
          </a:p>
          <a:p>
            <a:r>
              <a:rPr lang="ru-RU" sz="2600" dirty="0" smtClean="0"/>
              <a:t>Устойчив к </a:t>
            </a:r>
            <a:r>
              <a:rPr lang="ru-RU" sz="2600" dirty="0" err="1" smtClean="0"/>
              <a:t>стильовым</a:t>
            </a:r>
            <a:r>
              <a:rPr lang="ru-RU" sz="2600" dirty="0" smtClean="0"/>
              <a:t> искажениям (рукописные, деформированные знаки).</a:t>
            </a:r>
            <a:endParaRPr lang="en-US" sz="2600" dirty="0" smtClean="0"/>
          </a:p>
          <a:p>
            <a:endParaRPr lang="ru-RU" sz="2600" dirty="0" smtClean="0"/>
          </a:p>
          <a:p>
            <a:r>
              <a:rPr lang="ru-RU" sz="2600" dirty="0" smtClean="0"/>
              <a:t>Замена на обычный </a:t>
            </a:r>
            <a:r>
              <a:rPr lang="ru-RU" sz="2600" dirty="0" err="1" smtClean="0"/>
              <a:t>CLIP-loss</a:t>
            </a:r>
            <a:r>
              <a:rPr lang="ru-RU" sz="2600" dirty="0" smtClean="0"/>
              <a:t> резко снижает качество.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Эксперименты и сравнение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err="1" smtClean="0"/>
              <a:t>Датасеты</a:t>
            </a:r>
            <a:r>
              <a:rPr lang="ru-RU" dirty="0" smtClean="0"/>
              <a:t>: печатные, рукописные, смешанные.</a:t>
            </a:r>
          </a:p>
          <a:p>
            <a:pPr>
              <a:buNone/>
            </a:pPr>
            <a:r>
              <a:rPr lang="ru-RU" dirty="0" smtClean="0"/>
              <a:t>Задачи:</a:t>
            </a:r>
            <a:r>
              <a:rPr lang="en-US" dirty="0" smtClean="0"/>
              <a:t> Zero-shot, few-shot, cross-style, robustness tests.</a:t>
            </a:r>
          </a:p>
          <a:p>
            <a:pPr>
              <a:buNone/>
            </a:pPr>
            <a:r>
              <a:rPr lang="en-US" dirty="0" smtClean="0"/>
              <a:t>C</a:t>
            </a:r>
            <a:r>
              <a:rPr lang="ru-RU" dirty="0" smtClean="0"/>
              <a:t>равнение с методами:</a:t>
            </a:r>
            <a:r>
              <a:rPr lang="en-US" dirty="0" smtClean="0"/>
              <a:t> CLIP, stroke-only</a:t>
            </a:r>
            <a:r>
              <a:rPr lang="ru-RU" dirty="0" smtClean="0"/>
              <a:t>, </a:t>
            </a:r>
            <a:r>
              <a:rPr lang="en-US" dirty="0" smtClean="0"/>
              <a:t>radical-only</a:t>
            </a:r>
            <a:r>
              <a:rPr lang="ru-RU" dirty="0" smtClean="0"/>
              <a:t>, </a:t>
            </a:r>
            <a:r>
              <a:rPr lang="en-US" dirty="0" smtClean="0"/>
              <a:t>Vision Transformers</a:t>
            </a:r>
          </a:p>
          <a:p>
            <a:pPr>
              <a:buNone/>
            </a:pPr>
            <a:r>
              <a:rPr lang="ru-RU" dirty="0" smtClean="0"/>
              <a:t>Метрики:</a:t>
            </a:r>
            <a:r>
              <a:rPr lang="en-US" dirty="0" smtClean="0"/>
              <a:t> </a:t>
            </a:r>
            <a:r>
              <a:rPr lang="ru-RU" dirty="0" smtClean="0"/>
              <a:t>Точность </a:t>
            </a:r>
            <a:r>
              <a:rPr lang="en-US" dirty="0" smtClean="0"/>
              <a:t>Top-1, zero-shot success rate, </a:t>
            </a:r>
            <a:r>
              <a:rPr lang="ru-RU" dirty="0" smtClean="0"/>
              <a:t>ошибки по уровням.</a:t>
            </a:r>
            <a:endParaRPr lang="en-US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en-US" dirty="0" smtClean="0"/>
              <a:t>Hi-GITA </a:t>
            </a:r>
            <a:r>
              <a:rPr lang="ru-RU" dirty="0" smtClean="0"/>
              <a:t>стабильно превосходит все </a:t>
            </a:r>
            <a:r>
              <a:rPr lang="en-US" dirty="0" smtClean="0"/>
              <a:t>baseline.</a:t>
            </a:r>
          </a:p>
          <a:p>
            <a:pPr>
              <a:buNone/>
            </a:pPr>
            <a:r>
              <a:rPr lang="ru-RU" dirty="0" smtClean="0"/>
              <a:t>Улучшение:</a:t>
            </a:r>
          </a:p>
          <a:p>
            <a:pPr>
              <a:buNone/>
            </a:pPr>
            <a:r>
              <a:rPr lang="ru-RU" dirty="0" smtClean="0"/>
              <a:t>+15–20% в </a:t>
            </a:r>
            <a:r>
              <a:rPr lang="en-US" dirty="0" smtClean="0"/>
              <a:t>zero-shot, </a:t>
            </a:r>
            <a:r>
              <a:rPr lang="ru-RU" dirty="0" smtClean="0"/>
              <a:t>особенно на рукописных данных.</a:t>
            </a:r>
            <a:endParaRPr lang="en-US" dirty="0" smtClean="0"/>
          </a:p>
          <a:p>
            <a:endParaRPr lang="ru-RU" dirty="0" smtClean="0"/>
          </a:p>
          <a:p>
            <a:pPr>
              <a:buNone/>
            </a:pPr>
            <a:r>
              <a:rPr lang="en-US" dirty="0" smtClean="0"/>
              <a:t>Ablation-</a:t>
            </a:r>
            <a:r>
              <a:rPr lang="ru-RU" dirty="0" smtClean="0"/>
              <a:t>тесты:</a:t>
            </a:r>
          </a:p>
          <a:p>
            <a:r>
              <a:rPr lang="ru-RU" dirty="0" smtClean="0"/>
              <a:t>Удаление любого уровня или </a:t>
            </a:r>
            <a:r>
              <a:rPr lang="en-US" dirty="0" smtClean="0"/>
              <a:t>FDC-Loss </a:t>
            </a:r>
            <a:r>
              <a:rPr lang="ru-RU" dirty="0" smtClean="0"/>
              <a:t>ухудшает качество.</a:t>
            </a:r>
          </a:p>
          <a:p>
            <a:pPr>
              <a:buNone/>
            </a:pPr>
            <a:r>
              <a:rPr lang="ru-RU" dirty="0" smtClean="0"/>
              <a:t>Визуальный анализ:</a:t>
            </a:r>
          </a:p>
          <a:p>
            <a:r>
              <a:rPr lang="en-US" dirty="0" smtClean="0"/>
              <a:t>Stroke-level -&gt; </a:t>
            </a:r>
            <a:r>
              <a:rPr lang="ru-RU" dirty="0" smtClean="0"/>
              <a:t>акцент на мелких линиях.</a:t>
            </a:r>
          </a:p>
          <a:p>
            <a:r>
              <a:rPr lang="en-US" dirty="0" smtClean="0"/>
              <a:t>Radical-level -&gt; </a:t>
            </a:r>
            <a:r>
              <a:rPr lang="ru-RU" dirty="0" smtClean="0"/>
              <a:t>структуры.</a:t>
            </a:r>
          </a:p>
          <a:p>
            <a:r>
              <a:rPr lang="en-US" dirty="0" smtClean="0"/>
              <a:t>Character-level -&gt; </a:t>
            </a:r>
            <a:r>
              <a:rPr lang="ru-RU" dirty="0" smtClean="0"/>
              <a:t>глобальные контуры.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 smtClean="0"/>
              <a:t>Иерархический подход лучше описывает структуру.</a:t>
            </a:r>
          </a:p>
          <a:p>
            <a:pPr>
              <a:buNone/>
            </a:pPr>
            <a:r>
              <a:rPr lang="ru-RU" dirty="0" err="1" smtClean="0"/>
              <a:t>Hi-GITA</a:t>
            </a:r>
            <a:r>
              <a:rPr lang="ru-RU" dirty="0" smtClean="0"/>
              <a:t> показывает сильную </a:t>
            </a:r>
            <a:r>
              <a:rPr lang="ru-RU" dirty="0" err="1" smtClean="0"/>
              <a:t>zero-shot</a:t>
            </a:r>
            <a:r>
              <a:rPr lang="ru-RU" dirty="0" smtClean="0"/>
              <a:t> способность.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Основные вклады:</a:t>
            </a:r>
          </a:p>
          <a:p>
            <a:r>
              <a:rPr lang="ru-RU" dirty="0" smtClean="0"/>
              <a:t>Многоуровневые </a:t>
            </a:r>
            <a:r>
              <a:rPr lang="ru-RU" dirty="0" err="1" smtClean="0"/>
              <a:t>энкодеры</a:t>
            </a:r>
            <a:r>
              <a:rPr lang="ru-RU" dirty="0" smtClean="0"/>
              <a:t>,</a:t>
            </a:r>
          </a:p>
          <a:p>
            <a:r>
              <a:rPr lang="ru-RU" dirty="0" smtClean="0"/>
              <a:t>Fusion-модули,</a:t>
            </a:r>
          </a:p>
          <a:p>
            <a:r>
              <a:rPr lang="ru-RU" dirty="0" smtClean="0"/>
              <a:t>Новый </a:t>
            </a:r>
            <a:r>
              <a:rPr lang="ru-RU" dirty="0" err="1" smtClean="0"/>
              <a:t>FDC-Loss</a:t>
            </a:r>
            <a:r>
              <a:rPr lang="ru-RU" dirty="0" smtClean="0"/>
              <a:t>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Перспективы:</a:t>
            </a:r>
          </a:p>
          <a:p>
            <a:r>
              <a:rPr lang="ru-RU" dirty="0" smtClean="0"/>
              <a:t>Расширение на японские/корейские символы,</a:t>
            </a:r>
          </a:p>
          <a:p>
            <a:r>
              <a:rPr lang="ru-RU" dirty="0" smtClean="0"/>
              <a:t>Применение к историческим рукописям,</a:t>
            </a:r>
          </a:p>
          <a:p>
            <a:r>
              <a:rPr lang="ru-RU" dirty="0" smtClean="0"/>
              <a:t>Использование в </a:t>
            </a:r>
            <a:r>
              <a:rPr lang="ru-RU" dirty="0" err="1" smtClean="0"/>
              <a:t>мультимодальных</a:t>
            </a:r>
            <a:r>
              <a:rPr lang="ru-RU" dirty="0" smtClean="0"/>
              <a:t> OCR-системах.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Источники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https://arxiv.org/pdf/2505.24837</a:t>
            </a:r>
            <a:r>
              <a:rPr lang="ru-RU" dirty="0" smtClean="0"/>
              <a:t> - </a:t>
            </a:r>
            <a:r>
              <a:rPr lang="en-US" dirty="0" smtClean="0"/>
              <a:t>Zero-Shot Chinese Character Recognition with Hierarchical Multi-Granularity Image-Text Aligning</a:t>
            </a:r>
            <a:r>
              <a:rPr lang="ru-RU" dirty="0" smtClean="0"/>
              <a:t> (</a:t>
            </a:r>
            <a:r>
              <a:rPr lang="en-US" dirty="0" err="1" smtClean="0"/>
              <a:t>Yinglian</a:t>
            </a:r>
            <a:r>
              <a:rPr lang="en-US" dirty="0" smtClean="0"/>
              <a:t> Zhu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Haiyang</a:t>
            </a:r>
            <a:r>
              <a:rPr lang="en-US" dirty="0" smtClean="0"/>
              <a:t> Yu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Qizao</a:t>
            </a:r>
            <a:r>
              <a:rPr lang="en-US" dirty="0" smtClean="0"/>
              <a:t> Wang</a:t>
            </a:r>
            <a:r>
              <a:rPr lang="ru-RU" dirty="0" smtClean="0"/>
              <a:t>,</a:t>
            </a:r>
            <a:r>
              <a:rPr lang="en-US" dirty="0" smtClean="0"/>
              <a:t> Wei Lu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Xiangyang</a:t>
            </a:r>
            <a:r>
              <a:rPr lang="en-US" dirty="0" smtClean="0"/>
              <a:t> </a:t>
            </a:r>
            <a:r>
              <a:rPr lang="en-US" dirty="0" err="1" smtClean="0"/>
              <a:t>Xue</a:t>
            </a:r>
            <a:r>
              <a:rPr lang="ru-RU" dirty="0" smtClean="0"/>
              <a:t>,</a:t>
            </a:r>
            <a:r>
              <a:rPr lang="en-US" dirty="0" smtClean="0"/>
              <a:t> Bin Li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430061642"/>
      </p:ext>
    </p:extLst>
  </p:cSld>
  <p:clrMapOvr>
    <a:masterClrMapping/>
  </p:clrMapOvr>
</p:sld>
</file>

<file path=ppt/theme/theme1.xml><?xml version="1.0" encoding="utf-8"?>
<a:theme xmlns:a="http://schemas.openxmlformats.org/drawingml/2006/main" name="2016_01_SPbU_template_4x3_ру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2016_01_SPbU_template_4x3_ру</Template>
  <TotalTime>267</TotalTime>
  <Words>782</Words>
  <Application>Microsoft Office PowerPoint</Application>
  <PresentationFormat>Экран (4:3)</PresentationFormat>
  <Paragraphs>168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2016_01_SPbU_template_4x3_ру</vt:lpstr>
      <vt:lpstr>Иерархическое многоуровневое распознавание китайских иероглифов</vt:lpstr>
      <vt:lpstr>Проблема и мотивация</vt:lpstr>
      <vt:lpstr>Ограничения существующих решений</vt:lpstr>
      <vt:lpstr>Фреймворк HI-GITA</vt:lpstr>
      <vt:lpstr>Общая архитектура Hi-GITA</vt:lpstr>
      <vt:lpstr>IME: СТРУКТУРА ПРИЗНАКОВ</vt:lpstr>
      <vt:lpstr>Ime: ключевые особенности</vt:lpstr>
      <vt:lpstr>TME: Текстовые представления</vt:lpstr>
      <vt:lpstr>TME: АРХИТЕКТУРА</vt:lpstr>
      <vt:lpstr>MGFM-I и MGFM-T: назначение</vt:lpstr>
      <vt:lpstr>MGFM-I: внутри Image Encoder-А</vt:lpstr>
      <vt:lpstr>Проблема выравнивания “изображение–текст”</vt:lpstr>
      <vt:lpstr>FDC-Loss: многоуровневый контрастивный подход</vt:lpstr>
      <vt:lpstr>Почему FDC-Loss улучшает результаты</vt:lpstr>
      <vt:lpstr>Эксперименты и сравнение</vt:lpstr>
      <vt:lpstr>Итоги</vt:lpstr>
      <vt:lpstr>Источники</vt:lpstr>
      <vt:lpstr>Слайд 18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Преобразования лоренца</dc:title>
  <dc:creator>Zver</dc:creator>
  <cp:lastModifiedBy>Zver</cp:lastModifiedBy>
  <cp:revision>31</cp:revision>
  <dcterms:created xsi:type="dcterms:W3CDTF">2025-10-10T17:21:43Z</dcterms:created>
  <dcterms:modified xsi:type="dcterms:W3CDTF">2025-12-13T11:41:35Z</dcterms:modified>
</cp:coreProperties>
</file>